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9A77-C147-B1FD-9139-EB477AE9E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BA19F-0083-1537-7C08-A7B801910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50F3E-70C8-A1C4-780D-DDE7F281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0DE3-9265-B96A-8815-DE483599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751EB-682B-99D5-DA14-E60C3C0A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1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41E3-8037-BE6F-B4A6-E4AB74EF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8E225-010E-9DA0-5068-EF2FDE4BB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C5DE6-FACD-C94A-C67C-4F337279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9AF5-A13F-F886-06FA-642B5766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1A9BC-F27B-3E53-939A-56320E5C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2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CB12-4B71-1B8C-157D-A08C82D6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4F063-D2D2-E105-A3B7-01584DD6C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032D-B4B8-4443-74CA-67A9BD19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3E9BF-FF3F-E542-5D96-3B0C09B1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6A5A-91F8-A719-8F8B-4FE27B8C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9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9050-05BA-7DCC-C39A-DADD06EA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7671E-44E3-2F08-1351-9C6F00D0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8C00F-96DA-0446-68FF-ED9743603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3387-363F-10E0-74F1-73AA39F4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0D7A-4C6A-5C34-6F4E-EA32BBA8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BB4A7-2563-030C-7382-77A591B2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8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5F14-BFAE-2884-D8ED-B9A1084E3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3364A-20D8-809B-09A1-C795CABE0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0A4D6-7230-3EDF-6116-7C38F0DE0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9A00F-F31C-00D6-744B-C8BE28FA9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20348-330B-C957-4621-698C7F667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0C0B5-CF6A-D09B-6FC4-341C29CC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BB677E-2EDC-D67B-965B-13E43B34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02C4D-0725-2168-A8D1-EB4B42BC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5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779-C0F8-6C60-F2F8-9DCE9219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F66D3-8187-7C65-BA62-FAE7B163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47678-40F1-EFBF-1C71-A7A15454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FA58E-669B-7F79-7B54-7FAE8499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DF934-12F7-97E9-7DB0-6E41F5F0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0BF61-B1D3-B818-3766-3A576D04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C1CE-5369-E3F3-4DC6-551292B7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5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6C33-FB1A-5898-4598-CAD44AA2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720A-DC75-A0EB-1D78-D3EAEFDC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DF845-1430-5890-AF76-C2330BECB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85CC5-2E09-A7DE-798B-C4E4E3EC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95BBA-E803-C778-97E4-011316C7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BBFA0-1334-BA7E-6156-3A7CA53B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8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0B11-2D62-B2E6-D640-19F1FC3A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CAB0D-F8FA-839C-CC4F-55DD4BAF3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93718-A932-F370-6181-75A272F5B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06EBB-ED6C-D9F9-7326-60C43DFF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6B0BD-2F76-7FE9-9400-17670797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96AA4-C81C-744B-DAA3-7CD69DC6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53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3428-02E5-4908-BCC7-84B133D0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CC2CC-6EAF-B25A-B38C-2A090E9B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56641-3EAF-97BB-A494-B0FCFB85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3B72D-E111-52F6-6D73-B32E32E0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005E-481A-85BA-C998-22676C4D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8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41D97-28E8-9CD1-9CF8-99D1DE81B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AD63C-27FB-ADA2-4B93-78716C6D1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B263C-3687-6024-3C83-5B74203D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F7E9-248A-526B-B15E-6F04D6DB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CCC18-39D6-152F-88FE-0CAF7390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E4823-32C6-7967-7053-331734FF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55076-9E0C-8358-1357-67060CF94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56AD-F11E-3678-EF5D-91E665F1C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79106-F635-453E-8BA0-E6B668AF805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9D20A-5A27-0BD5-E9C9-75DBD442E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5303-2260-B5AB-F87B-69EDC90F2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6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6A89-72E0-CD64-0D89-F587402AC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487"/>
            <a:ext cx="9144000" cy="1654627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Capstone Project1 </a:t>
            </a:r>
            <a:b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</a:br>
            <a:r>
              <a:rPr lang="en-US" sz="2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MANUFACTURING  EQUIPMENT  OUTPUT PREDICTION  WITH  LINEAR  REGRESSION</a:t>
            </a:r>
            <a:br>
              <a:rPr lang="en-US" sz="14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FCD4F-364D-74AE-4D1A-A3A2E5DC4AED}"/>
              </a:ext>
            </a:extLst>
          </p:cNvPr>
          <p:cNvSpPr txBox="1"/>
          <p:nvPr/>
        </p:nvSpPr>
        <p:spPr>
          <a:xfrm>
            <a:off x="8763975" y="4395787"/>
            <a:ext cx="41256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algn="just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Kamalesh R </a:t>
            </a:r>
          </a:p>
          <a:p>
            <a:pPr algn="just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Mohammed Zaidaan Shiraz</a:t>
            </a:r>
          </a:p>
          <a:p>
            <a:pPr algn="just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Sumanth G</a:t>
            </a:r>
          </a:p>
          <a:p>
            <a:pPr algn="just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Umesh S.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Hakkapakki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54B8B-72EC-ABF6-5764-F09EC47A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9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4FF4-00BA-A1C5-E0CC-38FA5B53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1916FD-ED1C-0F78-2F73-11D99106FDA9}"/>
              </a:ext>
            </a:extLst>
          </p:cNvPr>
          <p:cNvSpPr txBox="1"/>
          <p:nvPr/>
        </p:nvSpPr>
        <p:spPr>
          <a:xfrm>
            <a:off x="925286" y="566057"/>
            <a:ext cx="1041762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API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F2C56-1EF1-7471-9A81-2F481FC8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7E26-275E-FD8A-6700-CDFB83B7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EA81C3-AF1D-1FF4-FB6B-3C7CE9321376}"/>
              </a:ext>
            </a:extLst>
          </p:cNvPr>
          <p:cNvSpPr txBox="1"/>
          <p:nvPr/>
        </p:nvSpPr>
        <p:spPr>
          <a:xfrm>
            <a:off x="754665" y="736223"/>
            <a:ext cx="104176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Goal:</a:t>
            </a:r>
            <a:r>
              <a:rPr lang="en-US" dirty="0"/>
              <a:t> To enhance production efficiency by accurately predicting the hourly output (</a:t>
            </a:r>
            <a:r>
              <a:rPr lang="en-US" dirty="0" err="1"/>
              <a:t>Parts_Per_Hour</a:t>
            </a:r>
            <a:r>
              <a:rPr lang="en-US" dirty="0"/>
              <a:t>) of injection molding machines.</a:t>
            </a:r>
          </a:p>
          <a:p>
            <a:r>
              <a:rPr lang="en-US" b="1" dirty="0"/>
              <a:t>The Challenge:</a:t>
            </a:r>
            <a:r>
              <a:rPr lang="en-US" dirty="0"/>
              <a:t> Machine operators currently rely on experience and standard operating procedures to set machine parameters. This can lead to suboptimal performance, inconsistent output, and difficulty in production planning.</a:t>
            </a:r>
          </a:p>
          <a:p>
            <a:r>
              <a:rPr lang="en-US" b="1" dirty="0"/>
              <a:t>Business Impact: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Optimize Settings:</a:t>
            </a:r>
            <a:r>
              <a:rPr lang="en-US" dirty="0"/>
              <a:t> Empowers the production team to fine-tune machine parameters for maximum, predictable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 Planning:</a:t>
            </a:r>
            <a:r>
              <a:rPr lang="en-US" dirty="0"/>
              <a:t> Allows for more accurate production scheduling and resource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Proactive Maintenance:</a:t>
            </a:r>
            <a:r>
              <a:rPr lang="en-US" dirty="0"/>
              <a:t> Helps identify underperforming machines that may require maintenance before a major failure 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Culture:</a:t>
            </a:r>
            <a:r>
              <a:rPr lang="en-US" dirty="0"/>
              <a:t> Shifts decision-making from intuition to actionable, data-backed insights.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51BB3-6F53-C93A-8ACC-EB2AFC12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6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0222-4B3F-8348-FF0E-2F10D5B4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E0FF65-D2D1-64FB-1F01-1A07C63DDF2A}"/>
              </a:ext>
            </a:extLst>
          </p:cNvPr>
          <p:cNvSpPr txBox="1"/>
          <p:nvPr/>
        </p:nvSpPr>
        <p:spPr>
          <a:xfrm>
            <a:off x="925286" y="566057"/>
            <a:ext cx="104176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Objective:</a:t>
            </a:r>
            <a:r>
              <a:rPr lang="en-US" dirty="0"/>
              <a:t> To develop a robust predictive model and deploy it as an interactive, user-friendly web application for the production team.</a:t>
            </a:r>
          </a:p>
          <a:p>
            <a:r>
              <a:rPr lang="en-US" b="1" dirty="0"/>
              <a:t>Methodology:</a:t>
            </a:r>
            <a:r>
              <a:rPr lang="en-US" dirty="0"/>
              <a:t> A baseline Linear Regression model was chosen for its interpretability and efficiency. The project followed a standard data science lifecycle.</a:t>
            </a:r>
          </a:p>
          <a:p>
            <a:r>
              <a:rPr lang="en-US" b="1" dirty="0"/>
              <a:t>Project Workflow: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Ingestion:</a:t>
            </a:r>
            <a:r>
              <a:rPr lang="en-US" dirty="0"/>
              <a:t> Load the synthetic manufacturing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Exploratory Data Analysis:</a:t>
            </a:r>
            <a:r>
              <a:rPr lang="en-US" dirty="0"/>
              <a:t> Analyze data distributions and correlations.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Preprocessing:</a:t>
            </a:r>
            <a:r>
              <a:rPr lang="en-US" dirty="0"/>
              <a:t> Clean the data and select relevant features.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Model Training:</a:t>
            </a:r>
            <a:r>
              <a:rPr lang="en-US" dirty="0"/>
              <a:t> Split data and train a Linear Regression model.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Evaluation:</a:t>
            </a:r>
            <a:r>
              <a:rPr lang="en-US" dirty="0"/>
              <a:t> Measure model performance using the R-squared metric.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Application Development:</a:t>
            </a:r>
            <a:r>
              <a:rPr lang="en-US" dirty="0"/>
              <a:t> Build a </a:t>
            </a:r>
            <a:r>
              <a:rPr lang="en-US" dirty="0" err="1"/>
              <a:t>Streamlit</a:t>
            </a:r>
            <a:r>
              <a:rPr lang="en-US" dirty="0"/>
              <a:t> UI for user interaction.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Containerization:</a:t>
            </a:r>
            <a:r>
              <a:rPr lang="en-US" dirty="0"/>
              <a:t> Package the application using Docker for deployment</a:t>
            </a:r>
            <a:endParaRPr lang="en-US" sz="4000" dirty="0"/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C55AB4-477C-5915-6F5B-EDB07615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8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BD52-ED36-EA0E-90C9-7CF17BE5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A49387-6A50-6351-7188-762CE09BB55B}"/>
              </a:ext>
            </a:extLst>
          </p:cNvPr>
          <p:cNvSpPr txBox="1"/>
          <p:nvPr/>
        </p:nvSpPr>
        <p:spPr>
          <a:xfrm>
            <a:off x="925286" y="566057"/>
            <a:ext cx="1041762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43245C-D953-4580-E659-59C320CA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4E02C11-676C-91FF-A2CA-2D119A925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286" y="1812552"/>
            <a:ext cx="11187892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S" altLang="en-AS" sz="9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The foundation of this project is a synthetic dataset meticulously crafted to simulate real-world manufacturing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Dataset: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manufacturing_dataset.csv</a:t>
            </a:r>
            <a:endParaRPr kumimoji="0" lang="en-AS" altLang="en-A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Method: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While the data is synthetically generated, it is based on established manufacturing principles to ensure the relationships between variables are realistic and meaningful.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Content: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It contains 1,000 hourly records, providing a rich source of information for training a robust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Data Loading Process</a:t>
            </a:r>
            <a:endParaRPr kumimoji="0" lang="en-AS" altLang="en-A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The dataset is loaded into the application at runtime using the powerful Pandas library in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Mechanism: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 simple, efficient command reads the entire CSV file into a structured </a:t>
            </a:r>
            <a:r>
              <a:rPr kumimoji="0" lang="en-AS" altLang="en-AS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DataFrame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Code Snippet:</a:t>
            </a:r>
            <a:endParaRPr kumimoji="0" lang="en-AS" altLang="en-A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8430CE"/>
                </a:solidFill>
                <a:effectLst/>
                <a:latin typeface="Google Sans Text"/>
              </a:rPr>
              <a:t>import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 pandas 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8430CE"/>
                </a:solidFill>
                <a:effectLst/>
                <a:latin typeface="Google Sans Text"/>
              </a:rPr>
              <a:t>as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 pd df = pd.read_csv(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Google Sans Text"/>
              </a:rPr>
              <a:t>'manufacturing_datas</a:t>
            </a:r>
            <a:r>
              <a:rPr kumimoji="0" lang="en-US" altLang="en-AS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Google Sans Text"/>
              </a:rPr>
              <a:t>et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Google Sans Text"/>
              </a:rPr>
              <a:t>.csv'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) </a:t>
            </a:r>
            <a:endParaRPr kumimoji="0" lang="en-AS" altLang="en-A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Outcome: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This single step ingests the raw data and prepares it for the subsequent stages of analysis, preprocessing, and </a:t>
            </a:r>
            <a:r>
              <a:rPr kumimoji="0" lang="en-AS" altLang="en-A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model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0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9203-5CAF-C401-17FF-82A26B9F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1DDD7F-8258-D3EF-27A7-7CE6861536D7}"/>
              </a:ext>
            </a:extLst>
          </p:cNvPr>
          <p:cNvSpPr txBox="1"/>
          <p:nvPr/>
        </p:nvSpPr>
        <p:spPr>
          <a:xfrm>
            <a:off x="925286" y="566057"/>
            <a:ext cx="1041762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Purpose:</a:t>
            </a:r>
            <a:r>
              <a:rPr lang="en-US" dirty="0"/>
              <a:t> To understand data characteristics, identify relationships, and check assumptions before modeling.</a:t>
            </a:r>
          </a:p>
          <a:p>
            <a:r>
              <a:rPr lang="en-US" b="1" dirty="0"/>
              <a:t>1. Descriptive Statistics: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Revealed the scale and distribution of each feature. For example, </a:t>
            </a:r>
            <a:r>
              <a:rPr lang="en-US" dirty="0" err="1"/>
              <a:t>Cycle_Time</a:t>
            </a:r>
            <a:r>
              <a:rPr lang="en-US" dirty="0"/>
              <a:t> ranges from 15 to 45 seconds.</a:t>
            </a:r>
          </a:p>
          <a:p>
            <a:r>
              <a:rPr lang="en-US" b="1" dirty="0"/>
              <a:t>2. Correlation Analysis: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correlation matrix was generated to quantify the linear relationships between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Finding:</a:t>
            </a:r>
            <a:r>
              <a:rPr lang="en-US" dirty="0"/>
              <a:t> </a:t>
            </a:r>
            <a:r>
              <a:rPr lang="en-US" dirty="0" err="1"/>
              <a:t>Total_Cycle_Time</a:t>
            </a:r>
            <a:r>
              <a:rPr lang="en-US" dirty="0"/>
              <a:t> showed a strong negative correlation (-0.85) with the target </a:t>
            </a:r>
            <a:r>
              <a:rPr lang="en-US" dirty="0" err="1"/>
              <a:t>Parts_Per_Hour</a:t>
            </a:r>
            <a:r>
              <a:rPr lang="en-US" dirty="0"/>
              <a:t>, which is logical: longer cycles lead to lower hourly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dirty="0" err="1"/>
              <a:t>Injection_Pressure</a:t>
            </a:r>
            <a:r>
              <a:rPr lang="en-US" dirty="0"/>
              <a:t> and </a:t>
            </a:r>
            <a:r>
              <a:rPr lang="en-US" dirty="0" err="1"/>
              <a:t>Injection_Temperature</a:t>
            </a:r>
            <a:r>
              <a:rPr lang="en-US" dirty="0"/>
              <a:t> also showed moderate positive correlations with the output.</a:t>
            </a:r>
          </a:p>
          <a:p>
            <a:r>
              <a:rPr lang="en-US" b="1" dirty="0"/>
              <a:t>3. Distribution Visualization: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Histograms showed that most features, including the target variable </a:t>
            </a:r>
            <a:r>
              <a:rPr lang="en-US" dirty="0" err="1"/>
              <a:t>Parts_Per_Hour</a:t>
            </a:r>
            <a:r>
              <a:rPr lang="en-US" dirty="0"/>
              <a:t>, followed a roughly normal distribution, which is a good sign for linear regression.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5696F0-A230-4170-D65B-94252D73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D18A-46DB-F5D1-756C-F184C084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93F408-C014-7315-2453-24243AE17923}"/>
              </a:ext>
            </a:extLst>
          </p:cNvPr>
          <p:cNvSpPr txBox="1"/>
          <p:nvPr/>
        </p:nvSpPr>
        <p:spPr>
          <a:xfrm>
            <a:off x="925286" y="566057"/>
            <a:ext cx="1041762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CE53B-57E3-B251-26CE-AF290EB8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984700E-3A37-9E58-B4B8-6482F9D1F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286" y="2044006"/>
            <a:ext cx="10885714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S" altLang="en-AS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Before building the model, we performed a deep dive into the data to uncover crucial insights 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Key Findings:</a:t>
            </a:r>
            <a:endParaRPr kumimoji="0" lang="en-AS" altLang="en-AS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The Dominant Factor: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 strong negative correlation (-0.85) was confirmed between </a:t>
            </a:r>
            <a:r>
              <a:rPr kumimoji="0" lang="en-AS" altLang="en-AS" b="0" i="0" u="none" strike="noStrike" cap="none" normalizeH="0" baseline="0" dirty="0" err="1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Total_Cycle_Time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and </a:t>
            </a:r>
            <a:r>
              <a:rPr kumimoji="0" lang="en-AS" altLang="en-AS" b="0" i="0" u="none" strike="noStrike" cap="none" normalizeH="0" baseline="0" dirty="0" err="1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Parts_Per_Hour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. This validates the fundamental principle: shorter cycles yield higher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Positive Performance Drivers: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</a:t>
            </a:r>
            <a:r>
              <a:rPr kumimoji="0" lang="en-AS" altLang="en-AS" b="0" i="0" u="none" strike="noStrike" cap="none" normalizeH="0" baseline="0" dirty="0" err="1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Injection_Temperature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and </a:t>
            </a:r>
            <a:r>
              <a:rPr kumimoji="0" lang="en-AS" altLang="en-AS" b="0" i="0" u="none" strike="noStrike" cap="none" normalizeH="0" baseline="0" dirty="0" err="1">
                <a:ln>
                  <a:noFill/>
                </a:ln>
                <a:solidFill>
                  <a:srgbClr val="575B5F"/>
                </a:solidFill>
                <a:effectLst/>
                <a:latin typeface="Google Sans Text"/>
              </a:rPr>
              <a:t>Injection_Pressure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both showed a positive correlation with output, indicating their importance in optimizing production.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AS" altLang="en-AS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Model Suitability:</a:t>
            </a:r>
            <a:r>
              <a:rPr kumimoji="0" lang="en-AS" altLang="en-AS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Feature distributions were found to be largely normal, confirming that Linear Regression is an appropriate starting model for this dataset</a:t>
            </a:r>
            <a:r>
              <a:rPr kumimoji="0" lang="en-AS" altLang="en-A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S" altLang="en-A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4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CB8B-FB27-E31A-1192-5DD7AD26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AE09B7-84D1-C90F-F404-83250821B234}"/>
              </a:ext>
            </a:extLst>
          </p:cNvPr>
          <p:cNvSpPr txBox="1"/>
          <p:nvPr/>
        </p:nvSpPr>
        <p:spPr>
          <a:xfrm>
            <a:off x="925286" y="548639"/>
            <a:ext cx="104176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This phase was critical for preparing a clean and relevant dataset for the model.</a:t>
            </a:r>
          </a:p>
          <a:p>
            <a:r>
              <a:rPr lang="en-US" b="1" dirty="0"/>
              <a:t>Our Process: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Leveraging Existing Features:</a:t>
            </a:r>
            <a:r>
              <a:rPr lang="en-US" dirty="0"/>
              <a:t> The dataset already contained valuable engineered features like </a:t>
            </a:r>
            <a:r>
              <a:rPr lang="en-US" dirty="0" err="1"/>
              <a:t>Temperature_Pressure_Ratio</a:t>
            </a:r>
            <a:r>
              <a:rPr lang="en-US" dirty="0"/>
              <a:t> and </a:t>
            </a:r>
            <a:r>
              <a:rPr lang="en-US" dirty="0" err="1"/>
              <a:t>Total_Cycle_Time</a:t>
            </a:r>
            <a:r>
              <a:rPr lang="en-US" dirty="0"/>
              <a:t>, which capture complex interactions.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Feature Selection:</a:t>
            </a:r>
            <a:r>
              <a:rPr lang="en-US" dirty="0"/>
              <a:t> For our baseline model, we strategically selected the 13 most impactful numerical features, temporarily excluding categorical data to establish a strong, interpretable foundation.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Cleansing:</a:t>
            </a:r>
            <a:r>
              <a:rPr lang="en-US" dirty="0"/>
              <a:t> A </a:t>
            </a:r>
            <a:r>
              <a:rPr lang="en-US" dirty="0" err="1"/>
              <a:t>dropna</a:t>
            </a:r>
            <a:r>
              <a:rPr lang="en-US" dirty="0"/>
              <a:t>() operation was performed to remove any rows with missing values, ensuring the model trains on high-quality, complete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Partitioning:</a:t>
            </a:r>
            <a:r>
              <a:rPr lang="en-US" dirty="0"/>
              <a:t> The dataset was split 80/20 into training and testing sets to ensure a robust and unbiased evaluation of the model.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86D32-2C91-E5D4-CDFA-9F899E55E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4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2712-5925-9393-290C-6311D679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CEF693-3F1B-C86F-2FE2-E46BBF83FD9B}"/>
              </a:ext>
            </a:extLst>
          </p:cNvPr>
          <p:cNvSpPr txBox="1"/>
          <p:nvPr/>
        </p:nvSpPr>
        <p:spPr>
          <a:xfrm>
            <a:off x="925286" y="566057"/>
            <a:ext cx="104176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core of our predictive engine is a </a:t>
            </a:r>
            <a:r>
              <a:rPr lang="en-US" b="1" dirty="0"/>
              <a:t>Linear Regression</a:t>
            </a:r>
            <a:r>
              <a:rPr lang="en-US" dirty="0"/>
              <a:t> model.</a:t>
            </a:r>
          </a:p>
          <a:p>
            <a:endParaRPr lang="en-US" dirty="0"/>
          </a:p>
          <a:p>
            <a:r>
              <a:rPr lang="en-US" b="1" dirty="0"/>
              <a:t>Why Linear Regression?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Interpretability:</a:t>
            </a:r>
            <a:r>
              <a:rPr lang="en-US" dirty="0"/>
              <a:t> It allows us to understand exactly how each parameter contributes to the final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Efficiency:</a:t>
            </a:r>
            <a:r>
              <a:rPr lang="en-US" dirty="0"/>
              <a:t> It is computationally fast, making it ideal for a real-time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Strong Baseline:</a:t>
            </a:r>
            <a:r>
              <a:rPr lang="en-US" dirty="0"/>
              <a:t> It provides a solid benchmark for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Training Process:</a:t>
            </a:r>
            <a:r>
              <a:rPr lang="en-US" dirty="0"/>
              <a:t> The model was trained using Scikit-</a:t>
            </a:r>
            <a:r>
              <a:rPr lang="en-US" dirty="0" err="1"/>
              <a:t>learn's</a:t>
            </a:r>
            <a:r>
              <a:rPr lang="en-US" dirty="0"/>
              <a:t> fit() method on our prepared training data. It learned the optimal coefficients for each feature to create a predictive mathematical formula. For deployment, this trained model was serialized into a </a:t>
            </a:r>
            <a:r>
              <a:rPr lang="en-US" dirty="0" err="1"/>
              <a:t>linear_regression_model.pkl</a:t>
            </a:r>
            <a:r>
              <a:rPr lang="en-US" dirty="0"/>
              <a:t> file for instant loading.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A1A8DE-0F20-800C-3FA2-50793CC0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1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61F9-3D54-AE2B-6153-934F631B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7ADD1F-D45A-8F7D-1C92-108B6142B7D1}"/>
              </a:ext>
            </a:extLst>
          </p:cNvPr>
          <p:cNvSpPr txBox="1"/>
          <p:nvPr/>
        </p:nvSpPr>
        <p:spPr>
          <a:xfrm>
            <a:off x="925286" y="566057"/>
            <a:ext cx="104176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ultimate test of our model is its performance on data it has never seen before.</a:t>
            </a:r>
          </a:p>
          <a:p>
            <a:endParaRPr lang="en-US" dirty="0"/>
          </a:p>
          <a:p>
            <a:r>
              <a:rPr lang="en-US" b="1" dirty="0"/>
              <a:t>Evaluation Metric:</a:t>
            </a:r>
            <a:r>
              <a:rPr lang="en-US" dirty="0"/>
              <a:t> </a:t>
            </a:r>
            <a:r>
              <a:rPr lang="en-US" b="1" dirty="0"/>
              <a:t>R-squared (R²)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metric tells us what percentage of the variation in </a:t>
            </a:r>
            <a:r>
              <a:rPr lang="en-US" dirty="0" err="1"/>
              <a:t>Parts_Per_Hour</a:t>
            </a:r>
            <a:r>
              <a:rPr lang="en-US" dirty="0"/>
              <a:t> can be explained by our model's features.</a:t>
            </a:r>
          </a:p>
          <a:p>
            <a:endParaRPr lang="en-US" dirty="0"/>
          </a:p>
          <a:p>
            <a:r>
              <a:rPr lang="en-US" b="1" dirty="0"/>
              <a:t>Result:</a:t>
            </a:r>
            <a:r>
              <a:rPr lang="en-US" dirty="0"/>
              <a:t> Our model achieved an </a:t>
            </a:r>
            <a:r>
              <a:rPr lang="en-US" b="1" dirty="0"/>
              <a:t>R-squared score of 0.86</a:t>
            </a:r>
            <a:r>
              <a:rPr lang="en-US" dirty="0"/>
              <a:t> on the test set.</a:t>
            </a:r>
          </a:p>
          <a:p>
            <a:endParaRPr lang="en-US" dirty="0"/>
          </a:p>
          <a:p>
            <a:r>
              <a:rPr lang="en-US" b="1" dirty="0"/>
              <a:t>This means: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Success:</a:t>
            </a:r>
            <a:r>
              <a:rPr lang="en-US" dirty="0"/>
              <a:t> We significantly surpassed our goal of 0.75.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 Predictive Power:</a:t>
            </a:r>
            <a:r>
              <a:rPr lang="en-US" dirty="0"/>
              <a:t> 86% of the variability in hourly output is captured by our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Ready:</a:t>
            </a:r>
            <a:r>
              <a:rPr lang="en-US" dirty="0"/>
              <a:t> The model is reliable and accurate enough for operational use.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15959-485D-C178-225B-384D3709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7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5859-3F4C-D8DD-CE15-FCD60E9F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834B0-F418-3C39-D0AB-556B1B3F258C}"/>
              </a:ext>
            </a:extLst>
          </p:cNvPr>
          <p:cNvSpPr txBox="1"/>
          <p:nvPr/>
        </p:nvSpPr>
        <p:spPr>
          <a:xfrm>
            <a:off x="887186" y="592561"/>
            <a:ext cx="104176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API Deployment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A model's value is only realized when it can be used. We built an interactive web application using </a:t>
            </a:r>
            <a:r>
              <a:rPr lang="en-US" dirty="0" err="1"/>
              <a:t>Streamlit</a:t>
            </a:r>
            <a:r>
              <a:rPr lang="en-US" dirty="0"/>
              <a:t> to bring our model to the factory floor.</a:t>
            </a:r>
          </a:p>
          <a:p>
            <a:endParaRPr lang="en-US" dirty="0"/>
          </a:p>
          <a:p>
            <a:r>
              <a:rPr lang="en-US" b="1" dirty="0"/>
              <a:t>Key Application Features: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Intuitive Controls:</a:t>
            </a:r>
            <a:r>
              <a:rPr lang="en-US" dirty="0"/>
              <a:t> Operators can adjust machine parameters using simple sliders.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Instant Feedback:</a:t>
            </a:r>
            <a:r>
              <a:rPr lang="en-US" dirty="0"/>
              <a:t> The predicted output is updated in real-time with each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Built-in Transparency:</a:t>
            </a:r>
            <a:r>
              <a:rPr lang="en-US" dirty="0"/>
              <a:t> Users can view the model's coefficients to understand which factors are most influential, building trust in the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application successfully transforms a complex model into an accessible and practical decision-making tool.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176574-2FD3-0181-FFC0-5C16D394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276B-7403-D6BF-BDC9-81D05DFA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B00D06-E932-698E-B796-8859F09915BB}"/>
              </a:ext>
            </a:extLst>
          </p:cNvPr>
          <p:cNvSpPr txBox="1"/>
          <p:nvPr/>
        </p:nvSpPr>
        <p:spPr>
          <a:xfrm>
            <a:off x="925286" y="566057"/>
            <a:ext cx="1041762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To ensure our application is robust, portable, and easy to deploy, we containerized it using Docker.</a:t>
            </a:r>
          </a:p>
          <a:p>
            <a:endParaRPr lang="en-US" dirty="0"/>
          </a:p>
          <a:p>
            <a:r>
              <a:rPr lang="en-US" b="1" dirty="0"/>
              <a:t>What is </a:t>
            </a:r>
            <a:r>
              <a:rPr lang="en-US" b="1" dirty="0" err="1"/>
              <a:t>Dockerization</a:t>
            </a:r>
            <a:r>
              <a:rPr lang="en-US" b="1" dirty="0"/>
              <a:t>?</a:t>
            </a:r>
            <a:r>
              <a:rPr lang="en-US" dirty="0"/>
              <a:t> It's the process of packaging our application, including the </a:t>
            </a:r>
            <a:r>
              <a:rPr lang="en-US" dirty="0" err="1"/>
              <a:t>Streamlit</a:t>
            </a:r>
            <a:r>
              <a:rPr lang="en-US" dirty="0"/>
              <a:t> front-end, the Python environment, all dependencies, and our trained model, into a single, isolated unit called a container.</a:t>
            </a:r>
          </a:p>
          <a:p>
            <a:endParaRPr lang="en-US" dirty="0"/>
          </a:p>
          <a:p>
            <a:r>
              <a:rPr lang="en-US" b="1" dirty="0"/>
              <a:t>Key Advantages: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Consistency:</a:t>
            </a:r>
            <a:r>
              <a:rPr lang="en-US" dirty="0"/>
              <a:t> The app runs identically everywhere, from a developer's laptop to a production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Simplicity:</a:t>
            </a:r>
            <a:r>
              <a:rPr lang="en-US" dirty="0"/>
              <a:t> Eliminates complex setup and dependency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Allows for rapid deployment and scaling of the application as needed.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EAA8C-D5AA-D224-6B52-AB87AD5C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1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DC14-24A4-83A3-80F3-7EB7CF45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A9192C-DD60-DC37-1D2D-65A5FB6C01AE}"/>
              </a:ext>
            </a:extLst>
          </p:cNvPr>
          <p:cNvSpPr txBox="1"/>
          <p:nvPr/>
        </p:nvSpPr>
        <p:spPr>
          <a:xfrm>
            <a:off x="925286" y="566057"/>
            <a:ext cx="104176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This project successfully delivered an end-to-end machine learning solution for a real-world manufacturing problem.</a:t>
            </a:r>
          </a:p>
          <a:p>
            <a:endParaRPr lang="en-US" dirty="0"/>
          </a:p>
          <a:p>
            <a:r>
              <a:rPr lang="en-US" b="1" dirty="0"/>
              <a:t>Key Achievements: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Developed a High-Accuracy Model:</a:t>
            </a:r>
            <a:r>
              <a:rPr lang="en-US" dirty="0"/>
              <a:t> Our Linear Regression model achieved an R² score of 0.86, proving its predictive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Built a User-Centric Tool:</a:t>
            </a:r>
            <a:r>
              <a:rPr lang="en-US" dirty="0"/>
              <a:t> The </a:t>
            </a:r>
            <a:r>
              <a:rPr lang="en-US" dirty="0" err="1"/>
              <a:t>Streamlit</a:t>
            </a:r>
            <a:r>
              <a:rPr lang="en-US" dirty="0"/>
              <a:t> application makes the model's insights accessible and actionable for non-technical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Created a Deployable Asset:</a:t>
            </a:r>
            <a:r>
              <a:rPr lang="en-US" dirty="0"/>
              <a:t> </a:t>
            </a:r>
            <a:r>
              <a:rPr lang="en-US" dirty="0" err="1"/>
              <a:t>Dockerization</a:t>
            </a:r>
            <a:r>
              <a:rPr lang="en-US" dirty="0"/>
              <a:t> ensures the application is robust, portable, and production-ready.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demonstrated that even a foundational machine learning model can provide immense value in optimizing manufacturing processes.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66F1F-149E-98DD-8A5C-0CEFFD4D5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15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EAD-69C1-D50A-64FF-BE5FE9D6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39406-1A7C-9AD4-D212-CF215A52D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This project lays a strong foundation. Future enhancements could include:</a:t>
            </a:r>
          </a:p>
          <a:p>
            <a:r>
              <a:rPr lang="en-US" sz="1900" b="1" dirty="0"/>
              <a:t>Model Improvements:</a:t>
            </a:r>
            <a:endParaRPr lang="en-US" sz="1900" dirty="0"/>
          </a:p>
          <a:p>
            <a:r>
              <a:rPr lang="en-US" sz="1900" b="1" dirty="0"/>
              <a:t>Advanced Algorithms:</a:t>
            </a:r>
            <a:r>
              <a:rPr lang="en-US" sz="1900" dirty="0"/>
              <a:t> Experiment with Gradient Boosting or Random Forest models to capture non-linear relationships and potentially increase accuracy.</a:t>
            </a:r>
          </a:p>
          <a:p>
            <a:r>
              <a:rPr lang="en-US" sz="1900" b="1" dirty="0"/>
              <a:t>Include Categorical Data:</a:t>
            </a:r>
            <a:r>
              <a:rPr lang="en-US" sz="1900" dirty="0"/>
              <a:t> Incorporate features like Shift and </a:t>
            </a:r>
            <a:r>
              <a:rPr lang="en-US" sz="1900" dirty="0" err="1"/>
              <a:t>Machine_Type</a:t>
            </a:r>
            <a:r>
              <a:rPr lang="en-US" sz="1900" dirty="0"/>
              <a:t> to uncover new performance drivers.</a:t>
            </a:r>
          </a:p>
          <a:p>
            <a:r>
              <a:rPr lang="en-US" sz="1900" b="1" dirty="0"/>
              <a:t>Application &amp; Deployment:</a:t>
            </a:r>
            <a:endParaRPr lang="en-US" sz="1900" dirty="0"/>
          </a:p>
          <a:p>
            <a:r>
              <a:rPr lang="en-US" sz="1900" b="1" dirty="0"/>
              <a:t>Cloud Integration:</a:t>
            </a:r>
            <a:r>
              <a:rPr lang="en-US" sz="1900" dirty="0"/>
              <a:t> Deploy the Docker container to a cloud platform (AWS, Azure, GCP) for scalable, company-wide access.</a:t>
            </a:r>
          </a:p>
          <a:p>
            <a:r>
              <a:rPr lang="en-US" sz="1900" b="1" dirty="0"/>
              <a:t>Real-Time Data Feeds:</a:t>
            </a:r>
            <a:r>
              <a:rPr lang="en-US" sz="1900" dirty="0"/>
              <a:t> Connect the app to live IoT sensor data from the machines for real-time monitoring and anomaly detection.</a:t>
            </a:r>
          </a:p>
          <a:p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1344896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4D34-C2E1-C9C0-E176-2E6A147A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A228EE-FED1-835D-6A31-D4A60C3188B4}"/>
              </a:ext>
            </a:extLst>
          </p:cNvPr>
          <p:cNvSpPr txBox="1"/>
          <p:nvPr/>
        </p:nvSpPr>
        <p:spPr>
          <a:xfrm rot="20161181">
            <a:off x="1023257" y="2490281"/>
            <a:ext cx="1038497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8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!!!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D9250A-B516-92CD-8809-B1DD666EA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1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1523</Words>
  <Application>Microsoft Office PowerPoint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Anantason Bold</vt:lpstr>
      <vt:lpstr>Arial</vt:lpstr>
      <vt:lpstr>Calibri</vt:lpstr>
      <vt:lpstr>Calibri Light</vt:lpstr>
      <vt:lpstr>Google Sans</vt:lpstr>
      <vt:lpstr>Google Sans Text</vt:lpstr>
      <vt:lpstr>Times New Roman</vt:lpstr>
      <vt:lpstr>Office Theme</vt:lpstr>
      <vt:lpstr>     Capstone Project1  MANUFACTURING  EQUIPMENT  OUTPUT PREDICTION  WITH  LINEAR  REGRESSION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Project1  MANUFACTURING  EQUIPMENT  OUTPUT PREDICTION  WITH  LINEAR  REGRESSION</dc:title>
  <dc:creator>TNS INDIA FOUNDATION</dc:creator>
  <cp:lastModifiedBy>Kamalesh R</cp:lastModifiedBy>
  <cp:revision>12</cp:revision>
  <dcterms:created xsi:type="dcterms:W3CDTF">2025-09-02T04:26:51Z</dcterms:created>
  <dcterms:modified xsi:type="dcterms:W3CDTF">2026-01-17T11:45:05Z</dcterms:modified>
</cp:coreProperties>
</file>